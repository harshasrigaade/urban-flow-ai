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FFFE9"/>
                </a:solidFill>
                <a:latin typeface="Century Gothic"/>
              </a:defRPr>
            </a:pPr>
            <a:r>
              <a:t>AI-POWERED SMART MOBILITY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8FAFC"/>
                </a:solidFill>
                <a:latin typeface="Century Gothic"/>
              </a:defRPr>
            </a:pPr>
            <a:r>
              <a:t>URBANFLOW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Century Gothic"/>
              </a:defRPr>
            </a:pPr>
            <a:r>
              <a:t>Travel Faster, Safer, Cheaper, and Greener.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4114800"/>
            <a:ext cx="5486400" cy="1645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206240"/>
            <a:ext cx="52303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DEVELOPED FOR HACKATHON BY: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F8FAFC"/>
                </a:solidFill>
                <a:latin typeface="Century Gothic"/>
              </a:defRPr>
            </a:pPr>
            <a:r>
              <a:t>G. Harsha Sri  |  AI Specialist</a:t>
            </a:r>
          </a:p>
          <a:p>
            <a:pPr algn="ctr">
              <a:spcBef>
                <a:spcPts val="500"/>
              </a:spcBef>
              <a:defRPr sz="1400" b="1">
                <a:solidFill>
                  <a:srgbClr val="F8FAFC"/>
                </a:solidFill>
                <a:latin typeface="Century Gothic"/>
              </a:defRPr>
            </a:pPr>
            <a:r>
              <a:t>P. Sindhu Reddy  |  Full-Stack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The Fragmented &amp; Unsafe Urban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entury Gothic"/>
              </a:defRPr>
            </a:pPr>
            <a:r>
              <a:t>Modern commuters deal with a high-friction transit cycle. Information is scattered, safety risks are elevated, and environmental impact is ignored.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3657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entury Gothic"/>
              </a:defRPr>
            </a:pPr>
            <a:r>
              <a:t>SEVERE CONGESTION</a:t>
            </a:r>
          </a:p>
          <a:p>
            <a:pPr>
              <a:spcAft>
                <a:spcPts val="1400"/>
              </a:spcAft>
              <a:defRPr sz="900" b="1">
                <a:solidFill>
                  <a:srgbClr val="EF4444"/>
                </a:solidFill>
                <a:latin typeface="Century Gothic"/>
              </a:defRPr>
            </a:pPr>
            <a:r>
              <a:t>TIME DRAINAGE</a:t>
            </a:r>
          </a:p>
          <a:p>
            <a:pPr>
              <a:defRPr sz="1100">
                <a:solidFill>
                  <a:srgbClr val="94A3B8"/>
                </a:solidFill>
                <a:latin typeface="Century Gothic"/>
              </a:defRPr>
            </a:pPr>
            <a:r>
              <a:t>Commuters waste hundreds of hours in gridlock daily. Traditional maps only offer reactive notifications after gridlocks occur.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3657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574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entury Gothic"/>
              </a:defRPr>
            </a:pPr>
            <a:r>
              <a:t>SAFETY BLINDSPOTS</a:t>
            </a:r>
          </a:p>
          <a:p>
            <a:pPr>
              <a:spcAft>
                <a:spcPts val="1400"/>
              </a:spcAft>
              <a:defRPr sz="900" b="1">
                <a:solidFill>
                  <a:srgbClr val="F59E0B"/>
                </a:solidFill>
                <a:latin typeface="Century Gothic"/>
              </a:defRPr>
            </a:pPr>
            <a:r>
              <a:t>PHYSICAL VULNERABILITY</a:t>
            </a:r>
          </a:p>
          <a:p>
            <a:pPr>
              <a:defRPr sz="1100">
                <a:solidFill>
                  <a:srgbClr val="94A3B8"/>
                </a:solidFill>
                <a:latin typeface="Century Gothic"/>
              </a:defRPr>
            </a:pPr>
            <a:r>
              <a:t>Poorly lit sectors, high-crime corridors, and accident hotspots are not integrated into route recommendations by generic mapping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468880" cy="3657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entury Gothic"/>
              </a:defRPr>
            </a:pPr>
            <a:r>
              <a:t>RISING COMMUTE COSTS</a:t>
            </a:r>
          </a:p>
          <a:p>
            <a:pPr>
              <a:spcAft>
                <a:spcPts val="1400"/>
              </a:spcAft>
              <a:defRPr sz="900" b="1">
                <a:solidFill>
                  <a:srgbClr val="EF4444"/>
                </a:solidFill>
                <a:latin typeface="Century Gothic"/>
              </a:defRPr>
            </a:pPr>
            <a:r>
              <a:t>ECONOMIC BURDEN</a:t>
            </a:r>
          </a:p>
          <a:p>
            <a:pPr>
              <a:defRPr sz="1100">
                <a:solidFill>
                  <a:srgbClr val="94A3B8"/>
                </a:solidFill>
                <a:latin typeface="Century Gothic"/>
              </a:defRPr>
            </a:pPr>
            <a:r>
              <a:t>commuters struggle to compare fares across cabs, buses, metro lines, and auto-rickshaws to optimize their daily travel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468880" cy="3657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0574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entury Gothic"/>
              </a:defRPr>
            </a:pPr>
            <a:r>
              <a:t>CARBON FOOTPRINT</a:t>
            </a:r>
          </a:p>
          <a:p>
            <a:pPr>
              <a:spcAft>
                <a:spcPts val="1400"/>
              </a:spcAft>
              <a:defRPr sz="900" b="1">
                <a:solidFill>
                  <a:srgbClr val="F59E0B"/>
                </a:solidFill>
                <a:latin typeface="Century Gothic"/>
              </a:defRPr>
            </a:pPr>
            <a:r>
              <a:t>ECOLOGICAL STRESS</a:t>
            </a:r>
          </a:p>
          <a:p>
            <a:pPr>
              <a:defRPr sz="1100">
                <a:solidFill>
                  <a:srgbClr val="94A3B8"/>
                </a:solidFill>
                <a:latin typeface="Century Gothic"/>
              </a:defRPr>
            </a:pPr>
            <a:r>
              <a:t>There is no simplified tool to track carbon offsets or reward green travel alternatives, keeping public transit adoption 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THE UNIFIED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UrbanFlow AI: The Smart Mobility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8FAFC"/>
                </a:solidFill>
                <a:latin typeface="Century Gothic"/>
              </a:defRPr>
            </a:pPr>
            <a:r>
              <a:t>A Single digital corridor solving multi-objective travel routing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Century Gothic"/>
              </a:defRPr>
            </a:pPr>
            <a:r>
              <a:t>UrbanFlow AI acts as a smart transit assistant, addressing multiple travel criteria simultaneously in a single application.</a:t>
            </a:r>
          </a:p>
          <a:p>
            <a:pPr>
              <a:defRPr sz="1300">
                <a:solidFill>
                  <a:srgbClr val="94A3B8"/>
                </a:solidFill>
                <a:latin typeface="Century Gothic"/>
              </a:defRPr>
            </a:pPr>
            <a:r>
              <a:t>Rather than switching between safety apps, taxi bookings, and carbon trackers, commuters access an integrated dynamic client dashboard powered by live geospatial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554480"/>
            <a:ext cx="548640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FFFE9"/>
                </a:solidFill>
                <a:latin typeface="Century Gothic"/>
              </a:defRPr>
            </a:pPr>
            <a:r>
              <a:t>THE INTEGRATED PLATFORM EQUATION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MAPS &amp; ROUTING ENGINE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Century Gothic"/>
              </a:defRPr>
            </a:pPr>
            <a:r>
              <a:t>   OpenStreetMap / OSRM Graph Router</a:t>
            </a:r>
          </a:p>
          <a:p>
            <a:pPr>
              <a:defRPr sz="1200" b="1">
                <a:solidFill>
                  <a:srgbClr val="EF4444"/>
                </a:solidFill>
                <a:latin typeface="Century Gothic"/>
              </a:defRPr>
            </a:pPr>
            <a:r>
              <a:t>▪ SAFETY AI + EMERGENCY SOS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Century Gothic"/>
              </a:defRPr>
            </a:pPr>
            <a:r>
              <a:t>   Guardian Safety Intelligence Suite</a:t>
            </a:r>
          </a:p>
          <a:p>
            <a:pPr>
              <a:defRPr sz="1200" b="1">
                <a:solidFill>
                  <a:srgbClr val="10B981"/>
                </a:solidFill>
                <a:latin typeface="Century Gothic"/>
              </a:defRPr>
            </a:pPr>
            <a:r>
              <a:t>▪ CARBON ACCOUNTING &amp; XP REWARDS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Century Gothic"/>
              </a:defRPr>
            </a:pPr>
            <a:r>
              <a:t>   Sustained Commuting Gamification System</a:t>
            </a:r>
          </a:p>
          <a:p>
            <a:pPr>
              <a:spcBef>
                <a:spcPts val="800"/>
              </a:spcBef>
              <a:defRPr sz="1100" b="1">
                <a:solidFill>
                  <a:srgbClr val="6FFFE9"/>
                </a:solidFill>
                <a:latin typeface="Century Gothic"/>
              </a:defRPr>
            </a:pPr>
            <a:r>
              <a:t>➔ DELIVERING FASTER, SAFER, CHEAPER, GREENER TRAVEL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INTELLIGENT JOURNEY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Key Feature 1: Multi-Objective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Century Gothic"/>
              </a:defRPr>
            </a:pPr>
            <a:r>
              <a:t>Customized Dijkstra Routing Weight Calculations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4 Travel Objectives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Toggle dynamically between Fastest, Cheapest, Safest, or Eco-friendly. The router re-weights graph edges based on selected objective metrics.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Multi-Modal Integration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Connects walking, cycling, auto-rickshaw, city buses, and local metros into a unified route recommendation.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Balanced Mode Selection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A hybrid algorithm solving for multi-objective Pareto optimization, recommending the best compromise 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554480"/>
            <a:ext cx="548640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FFFE9"/>
                </a:solidFill>
                <a:latin typeface="Century Gothic"/>
              </a:defRPr>
            </a:pPr>
            <a:r>
              <a:t>ROUTE SIMULATION METRIC COMPARISON</a:t>
            </a:r>
          </a:p>
          <a:p>
            <a:pPr>
              <a:defRPr sz="1200" b="1">
                <a:solidFill>
                  <a:srgbClr val="EF4444"/>
                </a:solidFill>
                <a:latin typeface="Century Gothic"/>
              </a:defRPr>
            </a:pPr>
            <a:r>
              <a:t>➔ FASTEST ROUTE (Taxi / Ride-Share)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Century Gothic"/>
              </a:defRPr>
            </a:pPr>
            <a:r>
              <a:t>   14 Mins  |  ₹240 Fare  |  2.4 kg CO2  |  Safety Score: 7.2</a:t>
            </a:r>
          </a:p>
          <a:p>
            <a:pPr>
              <a:defRPr sz="1200" b="1">
                <a:solidFill>
                  <a:srgbClr val="6FFFE9"/>
                </a:solidFill>
                <a:latin typeface="Century Gothic"/>
              </a:defRPr>
            </a:pPr>
            <a:r>
              <a:t>➔ SAFEST ROUTE (Metro + Walk Corridor)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Century Gothic"/>
              </a:defRPr>
            </a:pPr>
            <a:r>
              <a:t>   22 Mins  |  ₹40 Fare  |  0.3 kg CO2  |  Safety Score: 9.8</a:t>
            </a:r>
          </a:p>
          <a:p>
            <a:pPr>
              <a:defRPr sz="1200" b="1">
                <a:solidFill>
                  <a:srgbClr val="10B981"/>
                </a:solidFill>
                <a:latin typeface="Century Gothic"/>
              </a:defRPr>
            </a:pPr>
            <a:r>
              <a:t>➔ ECO-FRIENDLY ROUTE (Bicycle Lane)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Century Gothic"/>
              </a:defRPr>
            </a:pPr>
            <a:r>
              <a:t>   30 Mins  |  ₹0 Fare  |  0.0 kg CO2  |  Safety Score: 8.5</a:t>
            </a:r>
          </a:p>
          <a:p>
            <a:pPr>
              <a:defRPr sz="900" i="1">
                <a:solidFill>
                  <a:srgbClr val="94A3B8"/>
                </a:solidFill>
                <a:latin typeface="Century Gothic"/>
              </a:defRPr>
            </a:pPr>
            <a:r>
              <a:t>*Map interface powered by OpenStreetMap coordinates, rendering safety and lighting gradients.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WOMEN'S SAFETY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Key Feature 2: Route Safety &amp; Emergency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Century Gothic"/>
              </a:defRPr>
            </a:pPr>
            <a:r>
              <a:t>Guardian AI: Continuous Safety Assessment</a:t>
            </a:r>
          </a:p>
          <a:p>
            <a:pPr>
              <a:defRPr sz="1200" b="1">
                <a:solidFill>
                  <a:srgbClr val="EF4444"/>
                </a:solidFill>
                <a:latin typeface="Century Gothic"/>
              </a:defRPr>
            </a:pPr>
            <a:r>
              <a:t>▪ AI Safety Score (0-10)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Calculates safety ratings based on road lighting coverage, reported incidents, historical crime coordinates, and community feedback.</a:t>
            </a:r>
          </a:p>
          <a:p>
            <a:pPr>
              <a:defRPr sz="1200" b="1">
                <a:solidFill>
                  <a:srgbClr val="EF4444"/>
                </a:solidFill>
                <a:latin typeface="Century Gothic"/>
              </a:defRPr>
            </a:pPr>
            <a:r>
              <a:t>▪ Women's Security Module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One-Tap Panic Alarm, live coordinates sharing with trusted contacts, SHE Teams quick access integration, and simulated audio call deterrents.</a:t>
            </a:r>
          </a:p>
          <a:p>
            <a:pPr>
              <a:defRPr sz="1200" b="1">
                <a:solidFill>
                  <a:srgbClr val="EF4444"/>
                </a:solidFill>
                <a:latin typeface="Century Gothic"/>
              </a:defRPr>
            </a:pPr>
            <a:r>
              <a:t>▪ Emergency Locator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Instant query maps highlighting the nearest active police stations, municipal hospitals, and quick security response units.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554480"/>
            <a:ext cx="548640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F8FAFC"/>
                </a:solidFill>
                <a:latin typeface="Century Gothic"/>
              </a:defRPr>
            </a:pPr>
            <a:r>
              <a:t>GUARDIAN SOS EMERGENCY SYSTEM</a:t>
            </a:r>
          </a:p>
          <a:p>
            <a:pPr>
              <a:defRPr sz="1200" b="1">
                <a:solidFill>
                  <a:srgbClr val="EF4444"/>
                </a:solidFill>
                <a:latin typeface="Century Gothic"/>
              </a:defRPr>
            </a:pPr>
            <a:r>
              <a:t>🚨 ONE-TAP PANIC BUTTON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Century Gothic"/>
              </a:defRPr>
            </a:pPr>
            <a:r>
              <a:t>   Sends encrypted SMS containing live GPS coordinates to trusted contacts and municipal emergency response cells.</a:t>
            </a:r>
          </a:p>
          <a:p>
            <a:pPr>
              <a:defRPr sz="1200" b="1">
                <a:solidFill>
                  <a:srgbClr val="F59E0B"/>
                </a:solidFill>
                <a:latin typeface="Century Gothic"/>
              </a:defRPr>
            </a:pPr>
            <a:r>
              <a:t>🚨 VOICE-TRIGGERED ALARM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Century Gothic"/>
              </a:defRPr>
            </a:pPr>
            <a:r>
              <a:t>   Monitors device microphone for specific distress keywords. Triggers automated emergency broadcast silently if activated.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🚨 LIVE PATH MONITORING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Century Gothic"/>
              </a:defRPr>
            </a:pPr>
            <a:r>
              <a:t>   Compares active route telemetry with predicted path; triggers warnings if the user deviates into low-safety zones.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AI TRAFFIC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Key Feature 3: Congestion Prediction &amp; Carbon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Century Gothic"/>
              </a:defRPr>
            </a:pPr>
            <a:r>
              <a:t>Preemptive Traffic Analytics &amp; Carbon Accounting</a:t>
            </a:r>
          </a:p>
          <a:p>
            <a:pPr>
              <a:defRPr sz="1200" b="1">
                <a:solidFill>
                  <a:srgbClr val="10B981"/>
                </a:solidFill>
                <a:latin typeface="Century Gothic"/>
              </a:defRPr>
            </a:pPr>
            <a:r>
              <a:t>▪ Preemptive Traffic Engine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Uses a machine learning Decision Tree regressor to forecast congestion density at nodes 30–60 minutes in advance, suggesting proactive rerouting.</a:t>
            </a:r>
          </a:p>
          <a:p>
            <a:pPr>
              <a:defRPr sz="1200" b="1">
                <a:solidFill>
                  <a:srgbClr val="10B981"/>
                </a:solidFill>
                <a:latin typeface="Century Gothic"/>
              </a:defRPr>
            </a:pPr>
            <a:r>
              <a:t>▪ Carbon Offset Calculator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Compares CO2 footprint against driving a single-occupancy vehicle. Shows exact emissions saved by choosing walking, cycling, or metro.</a:t>
            </a:r>
          </a:p>
          <a:p>
            <a:pPr>
              <a:defRPr sz="1200" b="1">
                <a:solidFill>
                  <a:srgbClr val="10B981"/>
                </a:solidFill>
                <a:latin typeface="Century Gothic"/>
              </a:defRPr>
            </a:pPr>
            <a:r>
              <a:t>▪ Green Commute XP Rewards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Commuters earn points (XP) for sustainable routes, unlocking gamified badges and redeemable city transit vouchers.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554480"/>
            <a:ext cx="548640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F8FAFC"/>
                </a:solidFill>
                <a:latin typeface="Century Gothic"/>
              </a:defRPr>
            </a:pPr>
            <a:r>
              <a:t>SUSTAINABILITY &amp; TELEMETRY INSIGHTS</a:t>
            </a:r>
          </a:p>
          <a:p>
            <a:pPr>
              <a:defRPr sz="1300" b="1">
                <a:solidFill>
                  <a:srgbClr val="10B981"/>
                </a:solidFill>
                <a:latin typeface="Century Gothic"/>
              </a:defRPr>
            </a:pPr>
            <a:r>
              <a:t>🌲 User Carbon Offset Ledger</a:t>
            </a:r>
          </a:p>
          <a:p>
            <a:pPr>
              <a:spcAft>
                <a:spcPts val="1400"/>
              </a:spcAft>
              <a:defRPr sz="1100">
                <a:solidFill>
                  <a:srgbClr val="F8FAFC"/>
                </a:solidFill>
                <a:latin typeface="Century Gothic"/>
              </a:defRPr>
            </a:pPr>
            <a:r>
              <a:t>   Total Savings: 82.4 kg CO2 Saved (Equivalent to 4.1 saplings planted)</a:t>
            </a:r>
            <a:br/>
            <a:r>
              <a:t>   Commute XP Balance: 1,240 XP  |  Sustain Grade: A</a:t>
            </a:r>
          </a:p>
          <a:p>
            <a:pPr>
              <a:defRPr sz="1300" b="1">
                <a:solidFill>
                  <a:srgbClr val="F59E0B"/>
                </a:solidFill>
                <a:latin typeface="Century Gothic"/>
              </a:defRPr>
            </a:pPr>
            <a:r>
              <a:t>⚠️ Preemptive Congestion Warning</a:t>
            </a:r>
          </a:p>
          <a:p>
            <a:pPr>
              <a:defRPr sz="1100">
                <a:solidFill>
                  <a:srgbClr val="F8FAFC"/>
                </a:solidFill>
                <a:latin typeface="Century Gothic"/>
              </a:defRPr>
            </a:pPr>
            <a:r>
              <a:t>   Junction 4 (Main Road Hub): Gridlock predicted at 18:00.</a:t>
            </a:r>
            <a:br/>
            <a:r>
              <a:t>   Recommendation: Divert to Flyover Bypass to save 12 mins and reduce idling emissions by 0.4 kg CO2.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SMART COST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Key Feature 4: Cost vs. Time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Century Gothic"/>
              </a:defRPr>
            </a:pPr>
            <a:r>
              <a:t>Tackling Transportation Inflation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Fare Comparison Engine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Aggregates ticketing fares across public metros, local city buses, auto-rickshaws, and ride-hailing services in real-time.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Cost vs. Time Trade-off Graph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Shows the Pareto Frontier of commute choices, identifying where a small increase in travel time yields a high cost saving.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Alternative Mode Prompts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Triggers suggestions to swap modes (e.g., walking 300 meters to connect with a metro node rather than ordering a high-surge cab).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554480"/>
            <a:ext cx="548640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FFFE9"/>
                </a:solidFill>
                <a:latin typeface="Century Gothic"/>
              </a:defRPr>
            </a:pPr>
            <a:r>
              <a:t>FARE OPTIMIZATION ENGINE METRICS</a:t>
            </a:r>
          </a:p>
          <a:p>
            <a:pPr>
              <a:defRPr sz="1300" b="1">
                <a:solidFill>
                  <a:srgbClr val="6FFFE9"/>
                </a:solidFill>
                <a:latin typeface="Century Gothic"/>
              </a:defRPr>
            </a:pPr>
            <a:r>
              <a:t>💰 Projected Monthly Savings</a:t>
            </a:r>
          </a:p>
          <a:p>
            <a:pPr>
              <a:spcAft>
                <a:spcPts val="1400"/>
              </a:spcAft>
              <a:defRPr sz="1100">
                <a:solidFill>
                  <a:srgbClr val="F8FAFC"/>
                </a:solidFill>
                <a:latin typeface="Century Gothic"/>
              </a:defRPr>
            </a:pPr>
            <a:r>
              <a:t>   User Average: ₹2,840 Saved/Month</a:t>
            </a:r>
            <a:br/>
            <a:r>
              <a:t>   Achieved by: Swapping 35% of peak taxi rides to metro connections.</a:t>
            </a:r>
          </a:p>
          <a:p>
            <a:pPr>
              <a:defRPr sz="1300" b="1">
                <a:solidFill>
                  <a:srgbClr val="F8FAFC"/>
                </a:solidFill>
                <a:latin typeface="Century Gothic"/>
              </a:defRPr>
            </a:pPr>
            <a:r>
              <a:t>💡 Dynamic Savings Suggestion</a:t>
            </a:r>
          </a:p>
          <a:p>
            <a:pPr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 Cab fare is currently surging (₹240, 14 mins).</a:t>
            </a:r>
            <a:br/>
            <a:r>
              <a:t>   Action: Walk 5 mins to Metro Station 2, take Metro Line 3.</a:t>
            </a:r>
            <a:br/>
            <a:r>
              <a:t>   Result: Fare drops to ₹40 (Savings: ₹200). Travel time increases by only 8 mins.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SYSTEM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Robust Technology Stack &amp; Layered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2024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Century Gothic"/>
              </a:defRPr>
            </a:pPr>
            <a:r>
              <a:t>🖥️ CLIENT DEV</a:t>
            </a:r>
          </a:p>
          <a:p>
            <a:pPr>
              <a:spcAft>
                <a:spcPts val="1400"/>
              </a:spcAft>
              <a:defRPr sz="900" b="1">
                <a:solidFill>
                  <a:srgbClr val="6FFFE9"/>
                </a:solidFill>
                <a:latin typeface="Century Gothic"/>
              </a:defRPr>
            </a:pPr>
            <a:r>
              <a:t>FRONTEND</a:t>
            </a:r>
          </a:p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  <a:latin typeface="Century Gothic"/>
              </a:defRPr>
            </a:pPr>
            <a:r>
              <a:t>Vite</a:t>
            </a:r>
            <a:br/>
            <a:r>
              <a:t>React</a:t>
            </a:r>
            <a:br/>
            <a:r>
              <a:t>Tailwind CSS</a:t>
            </a:r>
            <a:br/>
            <a:r>
              <a:t>Lucide Icons</a:t>
            </a:r>
            <a:br/>
            <a:r>
              <a:t>Framer 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192024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Century Gothic"/>
              </a:defRPr>
            </a:pPr>
            <a:r>
              <a:t>⚙️ ENGINE API</a:t>
            </a:r>
          </a:p>
          <a:p>
            <a:pPr>
              <a:spcAft>
                <a:spcPts val="1400"/>
              </a:spcAft>
              <a:defRPr sz="900" b="1">
                <a:solidFill>
                  <a:srgbClr val="6FFFE9"/>
                </a:solidFill>
                <a:latin typeface="Century Gothic"/>
              </a:defRPr>
            </a:pPr>
            <a:r>
              <a:t>BACKEND</a:t>
            </a:r>
          </a:p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  <a:latin typeface="Century Gothic"/>
              </a:defRPr>
            </a:pPr>
            <a:r>
              <a:t>FastAPI</a:t>
            </a:r>
            <a:br/>
            <a:r>
              <a:t>Uvicorn Server</a:t>
            </a:r>
            <a:br/>
            <a:r>
              <a:t>JWT Security</a:t>
            </a:r>
            <a:br/>
            <a:r>
              <a:t>WebSockets for SOS broadcasts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192024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7830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Century Gothic"/>
              </a:defRPr>
            </a:pPr>
            <a:r>
              <a:t>🗄️ SPATIAL DB</a:t>
            </a:r>
          </a:p>
          <a:p>
            <a:pPr>
              <a:spcAft>
                <a:spcPts val="1400"/>
              </a:spcAft>
              <a:defRPr sz="900" b="1">
                <a:solidFill>
                  <a:srgbClr val="6FFFE9"/>
                </a:solidFill>
                <a:latin typeface="Century Gothic"/>
              </a:defRPr>
            </a:pPr>
            <a:r>
              <a:t>DATABASE</a:t>
            </a:r>
          </a:p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  <a:latin typeface="Century Gothic"/>
              </a:defRPr>
            </a:pPr>
            <a:r>
              <a:t>PostgreSQL</a:t>
            </a:r>
            <a:br/>
            <a:r>
              <a:t>PostGIS Ext</a:t>
            </a:r>
            <a:br/>
            <a:r>
              <a:t>SQLAlchemy ORM</a:t>
            </a:r>
            <a:br/>
            <a:r>
              <a:t>Incident Seeding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192024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Century Gothic"/>
              </a:defRPr>
            </a:pPr>
            <a:r>
              <a:t>🗺️ MAP ENGINE</a:t>
            </a:r>
          </a:p>
          <a:p>
            <a:pPr>
              <a:spcAft>
                <a:spcPts val="1400"/>
              </a:spcAft>
              <a:defRPr sz="900" b="1">
                <a:solidFill>
                  <a:srgbClr val="6FFFE9"/>
                </a:solidFill>
                <a:latin typeface="Century Gothic"/>
              </a:defRPr>
            </a:pPr>
            <a:r>
              <a:t>GIS ROUTING</a:t>
            </a:r>
          </a:p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  <a:latin typeface="Century Gothic"/>
              </a:defRPr>
            </a:pPr>
            <a:r>
              <a:t>OpenStreetMap</a:t>
            </a:r>
            <a:br/>
            <a:r>
              <a:t>OSRM Route Solver</a:t>
            </a:r>
            <a:br/>
            <a:r>
              <a:t>Leaflet Map APIs</a:t>
            </a:r>
            <a:br/>
            <a:r>
              <a:t>GeoJSON parsing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192024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7830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Century Gothic"/>
              </a:defRPr>
            </a:pPr>
            <a:r>
              <a:t>🧠 AI MODELS</a:t>
            </a:r>
          </a:p>
          <a:p>
            <a:pPr>
              <a:spcAft>
                <a:spcPts val="1400"/>
              </a:spcAft>
              <a:defRPr sz="900" b="1">
                <a:solidFill>
                  <a:srgbClr val="6FFFE9"/>
                </a:solidFill>
                <a:latin typeface="Century Gothic"/>
              </a:defRPr>
            </a:pPr>
            <a:r>
              <a:t>ML INFERENCE</a:t>
            </a:r>
          </a:p>
          <a:p>
            <a:pPr>
              <a:lnSpc>
                <a:spcPct val="130000"/>
              </a:lnSpc>
              <a:defRPr sz="1100">
                <a:solidFill>
                  <a:srgbClr val="94A3B8"/>
                </a:solidFill>
                <a:latin typeface="Century Gothic"/>
              </a:defRPr>
            </a:pPr>
            <a:r>
              <a:t>Scikit-Learn</a:t>
            </a:r>
            <a:br/>
            <a:r>
              <a:t>Decision Trees</a:t>
            </a:r>
            <a:br/>
            <a:r>
              <a:t>Dijkstra Graph Solver</a:t>
            </a:r>
            <a:br/>
            <a:r>
              <a:t>NLP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entury Gothic"/>
              </a:defRPr>
            </a:pPr>
            <a:r>
              <a:t>▪ System integration: The Graph router fetches active nodes from OpenRouteService. Dijkstra edge cost calculation uses ML traffic speed predictions and lighting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SMART CITY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Urban Mobility Analytics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Century Gothic"/>
              </a:defRPr>
            </a:pPr>
            <a:r>
              <a:t>Aggregating Telemetry for Municipal Planners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Congestion Heatmapping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Helps municipal authorities identify bottlenecks and peak rush-hour patterns to optimize public transit scheduling.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Incident Density Reports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Aggregates crowd-sourced citizen hazard logs (unlit roads, potholes) to direct city maintenance crews.</a:t>
            </a:r>
          </a:p>
          <a:p>
            <a:pPr>
              <a:defRPr sz="1200" b="1">
                <a:solidFill>
                  <a:srgbClr val="5BC0BE"/>
                </a:solidFill>
                <a:latin typeface="Century Gothic"/>
              </a:defRPr>
            </a:pPr>
            <a:r>
              <a:t>▪ Environmental Impact Tracker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entury Gothic"/>
              </a:defRPr>
            </a:pPr>
            <a:r>
              <a:t>  Calculates cumulative carbon emissions saved city-wide, supporting sustainability metrics and green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554480"/>
            <a:ext cx="548640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FFFE9"/>
                </a:solidFill>
                <a:latin typeface="Century Gothic"/>
              </a:defRPr>
            </a:pPr>
            <a:r>
              <a:t>ADMINISTRATOR CENTRAL DASHBOARD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Century Gothic"/>
              </a:defRPr>
            </a:pPr>
            <a:r>
              <a:t>📊 Today's Cumulative Metrics (City-wide)</a:t>
            </a:r>
          </a:p>
          <a:p>
            <a:pPr>
              <a:spcAft>
                <a:spcPts val="1400"/>
              </a:spcAft>
              <a:defRPr sz="1150">
                <a:solidFill>
                  <a:srgbClr val="94A3B8"/>
                </a:solidFill>
                <a:latin typeface="Century Gothic"/>
              </a:defRPr>
            </a:pPr>
            <a:r>
              <a:t>   ▪ Active Commuters: 1,240 Citizens Online</a:t>
            </a:r>
            <a:br/>
            <a:r>
              <a:t>   ▪ Verified Safety Incidents Logged: 4 Resolved</a:t>
            </a:r>
            <a:br/>
            <a:r>
              <a:t>   ▪ CO2 Footprint Reduction: 142.8 kg Saved Today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Century Gothic"/>
              </a:defRPr>
            </a:pPr>
            <a:r>
              <a:t>🚲 Travel Mode Distribution</a:t>
            </a:r>
          </a:p>
          <a:p>
            <a:pPr>
              <a:defRPr sz="1150">
                <a:solidFill>
                  <a:srgbClr val="94A3B8"/>
                </a:solidFill>
                <a:latin typeface="Century Gothic"/>
              </a:defRPr>
            </a:pPr>
            <a:r>
              <a:t>   ▪ Metro / City Bus: 35% usage share</a:t>
            </a:r>
            <a:br/>
            <a:r>
              <a:t>   ▪ Bicycling / Walking corridors: 45% usage share</a:t>
            </a:r>
            <a:br/>
            <a:r>
              <a:t>   ▪ Single-Occupancy Taxi / Auto: 20% usage share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C0BE"/>
                </a:solidFill>
                <a:latin typeface="Century Gothic"/>
              </a:defRPr>
            </a:pPr>
            <a:r>
              <a:t>EXPECTED IMPACT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/>
              </a:defRPr>
            </a:pPr>
            <a:r>
              <a:t>Empowering the Smart Cities of Tomorrow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entury Gothic"/>
              </a:defRPr>
            </a:pPr>
            <a:r>
              <a:t>A sustainable, data-driven approach to urban commuting.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BC0BE"/>
                </a:solidFill>
                <a:latin typeface="Century Gothic"/>
              </a:defRPr>
            </a:pPr>
            <a:r>
              <a:t>100%</a:t>
            </a:r>
          </a:p>
          <a:p>
            <a:pPr algn="ctr">
              <a:spcAft>
                <a:spcPts val="800"/>
              </a:spcAft>
              <a:defRPr sz="1000" b="1">
                <a:solidFill>
                  <a:srgbClr val="F8FAFC"/>
                </a:solidFill>
                <a:latin typeface="Century Gothic"/>
              </a:defRPr>
            </a:pPr>
            <a:r>
              <a:t>UNIFIED PLATFORM</a:t>
            </a:r>
          </a:p>
          <a:p>
            <a:pPr algn="ctr">
              <a:defRPr sz="1000">
                <a:solidFill>
                  <a:srgbClr val="94A3B8"/>
                </a:solidFill>
                <a:latin typeface="Century Gothic"/>
              </a:defRPr>
            </a:pPr>
            <a:r>
              <a:t>Bridges maps, emergency SOS, and carbon tracker apps into a single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entury Gothic"/>
              </a:defRPr>
            </a:pPr>
            <a:r>
              <a:t>-40%</a:t>
            </a:r>
          </a:p>
          <a:p>
            <a:pPr algn="ctr">
              <a:spcAft>
                <a:spcPts val="800"/>
              </a:spcAft>
              <a:defRPr sz="1000" b="1">
                <a:solidFill>
                  <a:srgbClr val="F8FAFC"/>
                </a:solidFill>
                <a:latin typeface="Century Gothic"/>
              </a:defRPr>
            </a:pPr>
            <a:r>
              <a:t>SAFETY INCIDENTS</a:t>
            </a:r>
          </a:p>
          <a:p>
            <a:pPr algn="ctr">
              <a:defRPr sz="1000">
                <a:solidFill>
                  <a:srgbClr val="94A3B8"/>
                </a:solidFill>
                <a:latin typeface="Century Gothic"/>
              </a:defRPr>
            </a:pPr>
            <a:r>
              <a:t>Reduces night travel risks via light-weighted routing algorithms.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46888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entury Gothic"/>
              </a:defRPr>
            </a:pPr>
            <a:r>
              <a:t>-25%</a:t>
            </a:r>
          </a:p>
          <a:p>
            <a:pPr algn="ctr">
              <a:spcAft>
                <a:spcPts val="800"/>
              </a:spcAft>
              <a:defRPr sz="1000" b="1">
                <a:solidFill>
                  <a:srgbClr val="F8FAFC"/>
                </a:solidFill>
                <a:latin typeface="Century Gothic"/>
              </a:defRPr>
            </a:pPr>
            <a:r>
              <a:t>CARBON EMISSIONS</a:t>
            </a:r>
          </a:p>
          <a:p>
            <a:pPr algn="ctr">
              <a:defRPr sz="1000">
                <a:solidFill>
                  <a:srgbClr val="94A3B8"/>
                </a:solidFill>
                <a:latin typeface="Century Gothic"/>
              </a:defRPr>
            </a:pPr>
            <a:r>
              <a:t>Promotes green transit through gamified XP reward frameworks.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46888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entury Gothic"/>
              </a:defRPr>
            </a:pPr>
            <a:r>
              <a:t>3.5x</a:t>
            </a:r>
          </a:p>
          <a:p>
            <a:pPr algn="ctr">
              <a:spcAft>
                <a:spcPts val="800"/>
              </a:spcAft>
              <a:defRPr sz="1000" b="1">
                <a:solidFill>
                  <a:srgbClr val="F8FAFC"/>
                </a:solidFill>
                <a:latin typeface="Century Gothic"/>
              </a:defRPr>
            </a:pPr>
            <a:r>
              <a:t>TRANSIT ADOPTION</a:t>
            </a:r>
          </a:p>
          <a:p>
            <a:pPr algn="ctr">
              <a:defRPr sz="1000">
                <a:solidFill>
                  <a:srgbClr val="94A3B8"/>
                </a:solidFill>
                <a:latin typeface="Century Gothic"/>
              </a:defRPr>
            </a:pPr>
            <a:r>
              <a:t>Boosts public transit utilization via integrated cost-savings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698480" cy="1645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FFFE9"/>
                </a:solidFill>
                <a:latin typeface="Century Gothic"/>
              </a:defRPr>
            </a:pPr>
            <a:r>
              <a:t>THE ROAD AHEAD: FUTURE MILESTONES</a:t>
            </a:r>
          </a:p>
          <a:p>
            <a:pPr>
              <a:defRPr sz="1100">
                <a:solidFill>
                  <a:srgbClr val="94A3B8"/>
                </a:solidFill>
                <a:latin typeface="Century Gothic"/>
              </a:defRPr>
            </a:pPr>
            <a:r>
              <a:t>▪ Phase 2 IoT Integration: Connect municipal smart streetlights to route safety indices dynamically.</a:t>
            </a:r>
            <a:br/>
            <a:r>
              <a:t>▪ Smart Grid Traffic Signals: Implement real-time predictive green signal tuning based on congestion density forecasts.</a:t>
            </a:r>
            <a:br/>
            <a:r>
              <a:t>▪ SHE Teams Live Integration: Form direct secure telemetry links with active SHE Teams patrol vehicles for automated panic intercepts.</a:t>
            </a:r>
            <a:br/>
            <a:r>
              <a:t>▪ Multi-City Expansion: Configure routing models to adapt dynamically to regional transit data API feeds.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